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63" r:id="rId5"/>
    <p:sldId id="256" r:id="rId6"/>
    <p:sldId id="257" r:id="rId7"/>
    <p:sldId id="258" r:id="rId8"/>
    <p:sldId id="262" r:id="rId9"/>
    <p:sldId id="260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9B3C00-DE32-4137-AD86-23573368114A}">
          <p14:sldIdLst/>
        </p14:section>
        <p14:section name="Untitled Section" id="{FB49EB36-1C97-4D17-B535-960004CD9235}">
          <p14:sldIdLst>
            <p14:sldId id="263"/>
            <p14:sldId id="256"/>
          </p14:sldIdLst>
        </p14:section>
        <p14:section name="Untitled Section" id="{2188C4EB-2CCF-4400-9DD1-A9F6FA01210A}">
          <p14:sldIdLst>
            <p14:sldId id="257"/>
            <p14:sldId id="258"/>
            <p14:sldId id="262"/>
            <p14:sldId id="260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4E08-FDDA-7B83-0E88-FC2CF6E0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A8D26-DD6A-5549-EA8F-E500C41A9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93483-1EC0-B8DD-100E-F21D73756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6969A-FD00-B981-71A4-DFBD1FBEF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4DA37-9C5B-478A-1271-1CC283FC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0AC275-ECEB-2955-9B8E-FD3C7019900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01338B-6578-E4A9-756C-7FB27083CB33}"/>
              </a:ext>
            </a:extLst>
          </p:cNvPr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B6AC7A-8DBE-BD78-3B3E-545416B11EEB}"/>
              </a:ext>
            </a:extLst>
          </p:cNvPr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60E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A695B9-3CF1-76CC-E593-14ABD73E73C5}"/>
              </a:ext>
            </a:extLst>
          </p:cNvPr>
          <p:cNvSpPr/>
          <p:nvPr/>
        </p:nvSpPr>
        <p:spPr>
          <a:xfrm>
            <a:off x="7406640" y="365760"/>
            <a:ext cx="1371600" cy="1371600"/>
          </a:xfrm>
          <a:prstGeom prst="ellipse">
            <a:avLst/>
          </a:prstGeom>
          <a:solidFill>
            <a:srgbClr val="1E7DC4">
              <a:alpha val="35000"/>
            </a:srgbClr>
          </a:solidFill>
          <a:ln w="12700">
            <a:solidFill>
              <a:srgbClr val="1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8C79438-BE0F-914E-2FBA-276A3AA4979F}"/>
              </a:ext>
            </a:extLst>
          </p:cNvPr>
          <p:cNvSpPr/>
          <p:nvPr/>
        </p:nvSpPr>
        <p:spPr>
          <a:xfrm>
            <a:off x="7863840" y="1463040"/>
            <a:ext cx="914400" cy="914400"/>
          </a:xfrm>
          <a:prstGeom prst="ellipse">
            <a:avLst/>
          </a:prstGeom>
          <a:solidFill>
            <a:srgbClr val="3AAFFA">
              <a:alpha val="20000"/>
            </a:srgbClr>
          </a:solidFill>
          <a:ln w="12700">
            <a:solidFill>
              <a:srgbClr val="3AA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381CF5F-4302-2E0F-0135-7F90EC0A2313}"/>
              </a:ext>
            </a:extLst>
          </p:cNvPr>
          <p:cNvSpPr/>
          <p:nvPr/>
        </p:nvSpPr>
        <p:spPr>
          <a:xfrm>
            <a:off x="7223760" y="2926080"/>
            <a:ext cx="548640" cy="548640"/>
          </a:xfrm>
          <a:prstGeom prst="ellipse">
            <a:avLst/>
          </a:prstGeom>
          <a:solidFill>
            <a:srgbClr val="3AAFFA">
              <a:alpha val="40000"/>
            </a:srgbClr>
          </a:solidFill>
          <a:ln w="12700">
            <a:solidFill>
              <a:srgbClr val="3AA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700336-0B29-AE47-8020-BC8D6C7AEF6A}"/>
              </a:ext>
            </a:extLst>
          </p:cNvPr>
          <p:cNvSpPr/>
          <p:nvPr/>
        </p:nvSpPr>
        <p:spPr>
          <a:xfrm>
            <a:off x="365760" y="457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AAFFA"/>
                </a:solidFill>
              </a:rPr>
              <a:t>BIG DATA PROJECT  |  MIDTERM PRESENTATION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30BA6A-ECBF-9B04-D612-809B849C8FAC}"/>
              </a:ext>
            </a:extLst>
          </p:cNvPr>
          <p:cNvSpPr/>
          <p:nvPr/>
        </p:nvSpPr>
        <p:spPr>
          <a:xfrm>
            <a:off x="365760" y="1005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</a:t>
            </a:r>
            <a:endParaRPr lang="en-US" sz="5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95B201-AE30-3C09-0F9D-FEA43D86CADA}"/>
              </a:ext>
            </a:extLst>
          </p:cNvPr>
          <p:cNvSpPr/>
          <p:nvPr/>
        </p:nvSpPr>
        <p:spPr>
          <a:xfrm>
            <a:off x="365760" y="17830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3AA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Analysis</a:t>
            </a:r>
            <a:endParaRPr lang="en-US" sz="3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0870774-748D-A406-32F6-ACBD48287A58}"/>
              </a:ext>
            </a:extLst>
          </p:cNvPr>
          <p:cNvSpPr/>
          <p:nvPr/>
        </p:nvSpPr>
        <p:spPr>
          <a:xfrm>
            <a:off x="365760" y="2606040"/>
            <a:ext cx="3200400" cy="36576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A15C1B-E628-2542-C457-355E9B44DC4D}"/>
              </a:ext>
            </a:extLst>
          </p:cNvPr>
          <p:cNvSpPr/>
          <p:nvPr/>
        </p:nvSpPr>
        <p:spPr>
          <a:xfrm>
            <a:off x="365760" y="2788920"/>
            <a:ext cx="6217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D4"/>
                </a:solidFill>
              </a:rPr>
              <a:t>Dataset Overview  ·  Tools &amp; Environment  ·  EDA Insights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8A26C63-8679-8C10-A592-355740386C1D}"/>
              </a:ext>
            </a:extLst>
          </p:cNvPr>
          <p:cNvSpPr/>
          <p:nvPr/>
        </p:nvSpPr>
        <p:spPr>
          <a:xfrm>
            <a:off x="5001768" y="34564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6A2F677-E676-9764-5F45-5C4CC00FBCBB}"/>
              </a:ext>
            </a:extLst>
          </p:cNvPr>
          <p:cNvSpPr/>
          <p:nvPr/>
        </p:nvSpPr>
        <p:spPr>
          <a:xfrm>
            <a:off x="5001768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04261941-4224-38BF-1A0B-94FF1CD6B0FE}"/>
              </a:ext>
            </a:extLst>
          </p:cNvPr>
          <p:cNvSpPr/>
          <p:nvPr/>
        </p:nvSpPr>
        <p:spPr>
          <a:xfrm>
            <a:off x="438912" y="3566310"/>
            <a:ext cx="6044334" cy="765847"/>
          </a:xfrm>
          <a:prstGeom prst="rect">
            <a:avLst/>
          </a:prstGeom>
          <a:solidFill>
            <a:srgbClr val="1E7DC4"/>
          </a:solidFill>
          <a:ln/>
        </p:spPr>
        <p:txBody>
          <a:bodyPr/>
          <a:lstStyle/>
          <a:p>
            <a:r>
              <a:rPr lang="en-US" dirty="0"/>
              <a:t>Group Members: Mansi Deshmukh, Md. Faiq Salman, Sanjay </a:t>
            </a:r>
            <a:r>
              <a:rPr lang="en-US" dirty="0" err="1"/>
              <a:t>Bharvad</a:t>
            </a:r>
            <a:r>
              <a:rPr lang="en-US" dirty="0"/>
              <a:t>, Sharan Patil</a:t>
            </a:r>
          </a:p>
        </p:txBody>
      </p:sp>
    </p:spTree>
    <p:extLst>
      <p:ext uri="{BB962C8B-B14F-4D97-AF65-F5344CB8AC3E}">
        <p14:creationId xmlns:p14="http://schemas.microsoft.com/office/powerpoint/2010/main" val="496464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60E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365760"/>
            <a:ext cx="1371600" cy="1371600"/>
          </a:xfrm>
          <a:prstGeom prst="ellipse">
            <a:avLst/>
          </a:prstGeom>
          <a:solidFill>
            <a:srgbClr val="1E7DC4">
              <a:alpha val="35000"/>
            </a:srgbClr>
          </a:solidFill>
          <a:ln w="12700">
            <a:solidFill>
              <a:srgbClr val="1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0" y="1463040"/>
            <a:ext cx="914400" cy="914400"/>
          </a:xfrm>
          <a:prstGeom prst="ellipse">
            <a:avLst/>
          </a:prstGeom>
          <a:solidFill>
            <a:srgbClr val="3AAFFA">
              <a:alpha val="20000"/>
            </a:srgbClr>
          </a:solidFill>
          <a:ln w="12700">
            <a:solidFill>
              <a:srgbClr val="3AA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0" y="2926080"/>
            <a:ext cx="548640" cy="548640"/>
          </a:xfrm>
          <a:prstGeom prst="ellipse">
            <a:avLst/>
          </a:prstGeom>
          <a:solidFill>
            <a:srgbClr val="3AAFFA">
              <a:alpha val="40000"/>
            </a:srgbClr>
          </a:solidFill>
          <a:ln w="12700">
            <a:solidFill>
              <a:srgbClr val="3AA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179882"/>
            <a:ext cx="6217920" cy="56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Background and Motivation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1325880" cy="123444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54864" cy="123444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4564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AFFA"/>
                </a:solidFill>
              </a:rPr>
              <a:t>7.7M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D4"/>
                </a:solidFill>
              </a:rPr>
              <a:t>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3383280"/>
            <a:ext cx="1325880" cy="123444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74520" y="3383280"/>
            <a:ext cx="54864" cy="123444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84248" y="34564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AFFA"/>
                </a:solidFill>
              </a:rPr>
              <a:t>46+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84248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D4"/>
                </a:solidFill>
              </a:rPr>
              <a:t>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383280"/>
            <a:ext cx="1325880" cy="123444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0" y="3383280"/>
            <a:ext cx="54864" cy="123444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93008" y="34564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AFFA"/>
                </a:solidFill>
              </a:rPr>
              <a:t>7yr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93008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D4"/>
                </a:solidFill>
              </a:rPr>
              <a:t>Span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383280"/>
            <a:ext cx="1325880" cy="123444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3383280"/>
            <a:ext cx="54864" cy="123444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01768" y="34564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AFFA"/>
                </a:solidFill>
              </a:rPr>
              <a:t>49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001768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D4"/>
                </a:solidFill>
              </a:rPr>
              <a:t>States</a:t>
            </a:r>
            <a:endParaRPr lang="en-US" sz="10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08D1B54B-5670-F775-BA7D-AD95E8DEDCE1}"/>
              </a:ext>
            </a:extLst>
          </p:cNvPr>
          <p:cNvSpPr/>
          <p:nvPr/>
        </p:nvSpPr>
        <p:spPr>
          <a:xfrm>
            <a:off x="320040" y="1054558"/>
            <a:ext cx="6040886" cy="193553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Large scale data can help identify hidden pattens and risk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Big data tools enable efficient analysis of millions of record.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Focus: Understanding trends by time, location. severity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Motivation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0515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4864" cy="105156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AFFA"/>
                </a:solidFill>
              </a:rPr>
              <a:t>Source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572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</a:rPr>
              <a:t>Kaggle – Sobhan Moosavi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</a:rPr>
              <a:t>API + Gov + Sensor + Camera 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2423160"/>
            <a:ext cx="4023360" cy="10515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2423160"/>
            <a:ext cx="54864" cy="105156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517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AFFA"/>
                </a:solidFill>
              </a:rPr>
              <a:t>Coverage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5840" y="28072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</a:rPr>
              <a:t>Feb 2016 – Mar 2023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</a:rPr>
              <a:t>49 US States, 7.7M accident records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3657600"/>
            <a:ext cx="4023360" cy="10515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3657600"/>
            <a:ext cx="54864" cy="105156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AFFA"/>
                </a:solidFill>
              </a:rPr>
              <a:t>Features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" y="40416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</a:rPr>
              <a:t>More than 46 attributes: weather, time,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</a:rPr>
              <a:t>geospatial, road, severity (1–4)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86300" y="1002323"/>
            <a:ext cx="4160520" cy="33832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63440" y="1143000"/>
            <a:ext cx="4160520" cy="384048"/>
          </a:xfrm>
          <a:prstGeom prst="rect">
            <a:avLst/>
          </a:prstGeom>
          <a:solidFill>
            <a:srgbClr val="1E7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754880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This Qualifies as Big Data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1664208"/>
            <a:ext cx="502920" cy="256032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75488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Volume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349240" y="1664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A"/>
                </a:solidFill>
              </a:rPr>
              <a:t>7.7M records exceed Excel limits.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A"/>
                </a:solidFill>
              </a:rPr>
              <a:t>Requires Spark for efficient processing.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54880" y="2624328"/>
            <a:ext cx="50292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754880" y="26243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Variety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349240" y="26243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A"/>
                </a:solidFill>
              </a:rPr>
              <a:t>Mixed types: numerical, categorical,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A"/>
                </a:solidFill>
              </a:rPr>
              <a:t>temporal, and geospatial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 &amp;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389888" cy="1005840"/>
          </a:xfrm>
          <a:prstGeom prst="rect">
            <a:avLst/>
          </a:prstGeom>
          <a:solidFill>
            <a:srgbClr val="1E7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3075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764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7.7M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46 cols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91056" y="1673352"/>
            <a:ext cx="128016" cy="10972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0784" y="1627632"/>
            <a:ext cx="54864" cy="20116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73936" y="1234440"/>
            <a:ext cx="1389888" cy="1005840"/>
          </a:xfrm>
          <a:prstGeom prst="rect">
            <a:avLst/>
          </a:prstGeom>
          <a:solidFill>
            <a:srgbClr val="1A6E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73936" y="13075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HDFS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73936" y="1764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Distributed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File System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82112" y="1673352"/>
            <a:ext cx="128016" cy="10972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627632"/>
            <a:ext cx="54864" cy="20116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1234440"/>
            <a:ext cx="1389888" cy="1005840"/>
          </a:xfrm>
          <a:prstGeom prst="rect">
            <a:avLst/>
          </a:prstGeom>
          <a:solidFill>
            <a:srgbClr val="1E7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13075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Spark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64992" y="1764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Clean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Transform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73168" y="1673352"/>
            <a:ext cx="128016" cy="10972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82896" y="1627632"/>
            <a:ext cx="54864" cy="20116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56048" y="1234440"/>
            <a:ext cx="1389888" cy="1005840"/>
          </a:xfrm>
          <a:prstGeom prst="rect">
            <a:avLst/>
          </a:prstGeom>
          <a:solidFill>
            <a:srgbClr val="1A6E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56048" y="13075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EDA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1764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Python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MLlib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64224" y="1673352"/>
            <a:ext cx="128016" cy="10972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73952" y="1627632"/>
            <a:ext cx="54864" cy="201168"/>
          </a:xfrm>
          <a:prstGeom prst="rect">
            <a:avLst/>
          </a:prstGeom>
          <a:solidFill>
            <a:srgbClr val="8AAF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47104" y="1234440"/>
            <a:ext cx="1389888" cy="1005840"/>
          </a:xfrm>
          <a:prstGeom prst="rect">
            <a:avLst/>
          </a:prstGeom>
          <a:solidFill>
            <a:srgbClr val="1E7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47104" y="13075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Tableau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47104" y="1764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Visual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A"/>
                </a:solidFill>
              </a:rPr>
              <a:t>Output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AFFA"/>
                </a:solidFill>
              </a:rPr>
              <a:t>TOOLS USED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834640"/>
            <a:ext cx="2743200" cy="640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2834640"/>
            <a:ext cx="45720" cy="64008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8895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Spark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145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D4"/>
                </a:solidFill>
              </a:rPr>
              <a:t>Distributed processing &amp; ML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2834640"/>
            <a:ext cx="2743200" cy="640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46120" y="2834640"/>
            <a:ext cx="45720" cy="64008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0" y="28895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HDFS / Hadoop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3145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D4"/>
                </a:solidFill>
              </a:rPr>
              <a:t>Distributed file storage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2834640"/>
            <a:ext cx="2743200" cy="640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2834640"/>
            <a:ext cx="45720" cy="64008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28895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/ Pandas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145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D4"/>
                </a:solidFill>
              </a:rPr>
              <a:t>EDA &amp; feature engineering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611880"/>
            <a:ext cx="2743200" cy="640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0040" y="3611880"/>
            <a:ext cx="45720" cy="64008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36667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 MLlib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3922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D4"/>
                </a:solidFill>
              </a:rPr>
              <a:t>Classification model training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46120" y="3611880"/>
            <a:ext cx="2743200" cy="640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46120" y="3611880"/>
            <a:ext cx="45720" cy="64008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83280" y="36667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83280" y="3922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D4"/>
                </a:solidFill>
              </a:rPr>
              <a:t>Interactive dashboard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3611880"/>
            <a:ext cx="2743200" cy="640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72200" y="3611880"/>
            <a:ext cx="45720" cy="640080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09360" y="36667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Jupyter</a:t>
            </a:r>
            <a:r>
              <a:rPr lang="en-US" sz="1100" b="1" dirty="0">
                <a:solidFill>
                  <a:srgbClr val="FFFFFF"/>
                </a:solidFill>
              </a:rPr>
              <a:t> / Colab</a:t>
            </a:r>
          </a:p>
        </p:txBody>
      </p:sp>
      <p:sp>
        <p:nvSpPr>
          <p:cNvPr id="52" name="Text 50"/>
          <p:cNvSpPr/>
          <p:nvPr/>
        </p:nvSpPr>
        <p:spPr>
          <a:xfrm>
            <a:off x="6309360" y="3922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D4"/>
                </a:solidFill>
              </a:rPr>
              <a:t>Dev environment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67AD5-9F26-934E-CC77-F30A11BFF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9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AA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 — Severity &amp; Time Patterns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69080" cy="35661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FA"/>
                </a:solidFill>
              </a:rPr>
              <a:t>Accidents by Severity Level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17320"/>
            <a:ext cx="397764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051560"/>
            <a:ext cx="4069080" cy="35661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9204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FA"/>
                </a:solidFill>
              </a:rPr>
              <a:t>Accidents by Hour of Day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17320"/>
            <a:ext cx="3977640" cy="3017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4343400"/>
            <a:ext cx="4069080" cy="502920"/>
          </a:xfrm>
          <a:prstGeom prst="rect">
            <a:avLst/>
          </a:prstGeom>
          <a:solidFill>
            <a:srgbClr val="1E7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47472" y="4389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⚠  Severity 2 dominates — major class imbalance to address in ML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00600" y="4343400"/>
            <a:ext cx="4069080" cy="502920"/>
          </a:xfrm>
          <a:prstGeom prst="rect">
            <a:avLst/>
          </a:prstGeom>
          <a:solidFill>
            <a:srgbClr val="1E7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873752" y="4389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⏰  Peak accidents at 10–11 AM and 4–6 PM — rush hour correlation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8AFEF4-9315-393F-66ED-37C2E25E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"/>
            <a:ext cx="9144000" cy="514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6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6D7D0D-87B7-3BD1-C634-FC24EA169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08" y="0"/>
            <a:ext cx="9171815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95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72096E584FF84B866D1AA14F36D8ED" ma:contentTypeVersion="5" ma:contentTypeDescription="Create a new document." ma:contentTypeScope="" ma:versionID="026794468e9e223ddfb8f8875e01e60f">
  <xsd:schema xmlns:xsd="http://www.w3.org/2001/XMLSchema" xmlns:xs="http://www.w3.org/2001/XMLSchema" xmlns:p="http://schemas.microsoft.com/office/2006/metadata/properties" xmlns:ns3="fba69a0e-a6e1-454b-a5f1-8118a0febbdd" targetNamespace="http://schemas.microsoft.com/office/2006/metadata/properties" ma:root="true" ma:fieldsID="79201092c86b28f5a626e7ea0a97ff95" ns3:_="">
    <xsd:import namespace="fba69a0e-a6e1-454b-a5f1-8118a0febbd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a69a0e-a6e1-454b-a5f1-8118a0febbd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a69a0e-a6e1-454b-a5f1-8118a0febbdd" xsi:nil="true"/>
  </documentManagement>
</p:properties>
</file>

<file path=customXml/itemProps1.xml><?xml version="1.0" encoding="utf-8"?>
<ds:datastoreItem xmlns:ds="http://schemas.openxmlformats.org/officeDocument/2006/customXml" ds:itemID="{6945580A-E27D-4A32-8CD2-1C013726C0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CCC8DE-1EDF-4A45-B65D-40D387A86E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a69a0e-a6e1-454b-a5f1-8118a0febb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0E3CCD-774D-4E69-8367-3D4ECE0750BF}">
  <ds:schemaRefs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fba69a0e-a6e1-454b-a5f1-8118a0febbdd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275</Words>
  <Application>Microsoft Office PowerPoint</Application>
  <PresentationFormat>On-screen Show (16:9)</PresentationFormat>
  <Paragraphs>80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Accidents Big Data Analysis</dc:title>
  <dc:subject>PptxGenJS Presentation</dc:subject>
  <dc:creator>PptxGenJS</dc:creator>
  <cp:lastModifiedBy>Mansi Deshmukh</cp:lastModifiedBy>
  <cp:revision>3</cp:revision>
  <dcterms:created xsi:type="dcterms:W3CDTF">2026-03-19T20:04:08Z</dcterms:created>
  <dcterms:modified xsi:type="dcterms:W3CDTF">2026-03-20T21:59:46Z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0x0101001972096E584FF84B866D1AA14F36D8ED</vt:lpwstr>
  </property>
</Properties>
</file>